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B9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8A6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816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SKU Level</c:v>
                  </c:pt>
                  <c:pt idx="1">
                    <c:v>Category Level</c:v>
                  </c:pt>
                  <c:pt idx="2">
                    <c:v>Customer Level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29</c:v>
                </c:pt>
                <c:pt idx="2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30363D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MAPE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58A6FF"/>
            </a:solidFill>
            <a:ln w="25400" cap="flat">
              <a:solidFill>
                <a:srgbClr val="58A6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8A6FF"/>
              </a:solidFill>
              <a:ln w="9525" cap="flat">
                <a:solidFill>
                  <a:srgbClr val="58A6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W27</c:v>
                  </c:pt>
                  <c:pt idx="1">
                    <c:v>W29</c:v>
                  </c:pt>
                  <c:pt idx="2">
                    <c:v>W31</c:v>
                  </c:pt>
                  <c:pt idx="3">
                    <c:v>W33</c:v>
                  </c:pt>
                  <c:pt idx="4">
                    <c:v>W35</c:v>
                  </c:pt>
                  <c:pt idx="5">
                    <c:v>W37</c:v>
                  </c:pt>
                  <c:pt idx="6">
                    <c:v>W39</c:v>
                  </c:pt>
                  <c:pt idx="7">
                    <c:v>W41</c:v>
                  </c:pt>
                  <c:pt idx="8">
                    <c:v>W43</c:v>
                  </c:pt>
                  <c:pt idx="9">
                    <c:v>W45</c:v>
                  </c:pt>
                  <c:pt idx="10">
                    <c:v>W47</c:v>
                  </c:pt>
                  <c:pt idx="11">
                    <c:v>W49</c:v>
                  </c:pt>
                  <c:pt idx="12">
                    <c:v>W51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156036</c:v>
                </c:pt>
                <c:pt idx="1">
                  <c:v>132813</c:v>
                </c:pt>
                <c:pt idx="2">
                  <c:v>166517</c:v>
                </c:pt>
                <c:pt idx="3">
                  <c:v>332482</c:v>
                </c:pt>
                <c:pt idx="4">
                  <c:v>233318</c:v>
                </c:pt>
                <c:pt idx="5">
                  <c:v>180625</c:v>
                </c:pt>
                <c:pt idx="6">
                  <c:v>159704</c:v>
                </c:pt>
                <c:pt idx="7">
                  <c:v>135581</c:v>
                </c:pt>
                <c:pt idx="8">
                  <c:v>156272</c:v>
                </c:pt>
                <c:pt idx="9">
                  <c:v>267330</c:v>
                </c:pt>
                <c:pt idx="10">
                  <c:v>1102496</c:v>
                </c:pt>
                <c:pt idx="11">
                  <c:v>209730</c:v>
                </c:pt>
                <c:pt idx="12">
                  <c:v>261229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F78166"/>
            </a:solidFill>
            <a:ln w="25400" cap="flat">
              <a:solidFill>
                <a:srgbClr val="F781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8166"/>
              </a:solidFill>
              <a:ln w="9525" cap="flat">
                <a:solidFill>
                  <a:srgbClr val="F781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W27</c:v>
                  </c:pt>
                  <c:pt idx="1">
                    <c:v>W29</c:v>
                  </c:pt>
                  <c:pt idx="2">
                    <c:v>W31</c:v>
                  </c:pt>
                  <c:pt idx="3">
                    <c:v>W33</c:v>
                  </c:pt>
                  <c:pt idx="4">
                    <c:v>W35</c:v>
                  </c:pt>
                  <c:pt idx="5">
                    <c:v>W37</c:v>
                  </c:pt>
                  <c:pt idx="6">
                    <c:v>W39</c:v>
                  </c:pt>
                  <c:pt idx="7">
                    <c:v>W41</c:v>
                  </c:pt>
                  <c:pt idx="8">
                    <c:v>W43</c:v>
                  </c:pt>
                  <c:pt idx="9">
                    <c:v>W45</c:v>
                  </c:pt>
                  <c:pt idx="10">
                    <c:v>W47</c:v>
                  </c:pt>
                  <c:pt idx="11">
                    <c:v>W49</c:v>
                  </c:pt>
                  <c:pt idx="12">
                    <c:v>W51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232915</c:v>
                </c:pt>
                <c:pt idx="1">
                  <c:v>221248</c:v>
                </c:pt>
                <c:pt idx="2">
                  <c:v>207186</c:v>
                </c:pt>
                <c:pt idx="3">
                  <c:v>215223</c:v>
                </c:pt>
                <c:pt idx="4">
                  <c:v>199610</c:v>
                </c:pt>
                <c:pt idx="5">
                  <c:v>209371</c:v>
                </c:pt>
                <c:pt idx="6">
                  <c:v>229031</c:v>
                </c:pt>
                <c:pt idx="7">
                  <c:v>227635</c:v>
                </c:pt>
                <c:pt idx="8">
                  <c:v>228411</c:v>
                </c:pt>
                <c:pt idx="9">
                  <c:v>196152</c:v>
                </c:pt>
                <c:pt idx="10">
                  <c:v>197372</c:v>
                </c:pt>
                <c:pt idx="11">
                  <c:v>209960</c:v>
                </c:pt>
                <c:pt idx="12">
                  <c:v>210537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Week (H2 2025)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0363D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Units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Home &amp; Garden</c:v>
                  </c:pt>
                  <c:pt idx="1">
                    <c:v>Hardware</c:v>
                  </c:pt>
                  <c:pt idx="2">
                    <c:v>Toiletries</c:v>
                  </c:pt>
                  <c:pt idx="3">
                    <c:v>Baby &amp; Toddler</c:v>
                  </c:pt>
                  <c:pt idx="4">
                    <c:v>Food</c:v>
                  </c:pt>
                  <c:pt idx="5">
                    <c:v>Beverages</c:v>
                  </c:pt>
                  <c:pt idx="6">
                    <c:v>Brand Mfg</c:v>
                  </c:pt>
                  <c:pt idx="7">
                    <c:v>Vehicles &amp; Parts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</c:v>
                </c:pt>
                <c:pt idx="1">
                  <c:v>32</c:v>
                </c:pt>
                <c:pt idx="2">
                  <c:v>35</c:v>
                </c:pt>
                <c:pt idx="3">
                  <c:v>41</c:v>
                </c:pt>
                <c:pt idx="4">
                  <c:v>45</c:v>
                </c:pt>
                <c:pt idx="5">
                  <c:v>52</c:v>
                </c:pt>
                <c:pt idx="6">
                  <c:v>38</c:v>
                </c:pt>
                <c:pt idx="7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30363D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MAPE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RedAI × ACA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to Proactive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Demand Planning for FMCG Distribution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SKU-Level MAPE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93192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Category-Level MAPE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436K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Analyzed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ACA: Distributor of Distributors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of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1,575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SKUs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1,142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2103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08960" y="2103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 FMCG distributor. Before AI planning: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Demand decisions based on gut feel
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visibility into future demand
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Reactive replenishment cycles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12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280160"/>
            <a:ext cx="36576" cy="6858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sales during peak demand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0574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12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2057400"/>
            <a:ext cx="36576" cy="6858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↩️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2167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Returns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Over-ordering tied up capital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1262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2834640"/>
            <a:ext cx="36576" cy="6858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1208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Reactions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playing catch-up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6118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1262D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3611880"/>
            <a:ext cx="36576" cy="6858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12080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Upsell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977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insight into buying patterns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AI → Actions → Revenue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436K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0363D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0D419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MODELS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Levels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• Category • Customer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0363D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Weeks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forecast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0363D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903720" y="13716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238636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951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372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enabled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lag1, lag2, lag4, rolling_avg_4w, week_num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36576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training (W01-26) → H2 test (W27-52)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6576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ML Deployment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API for real-time 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Performance Across Levels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Level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BB Cement 32.5R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874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SKUs by volume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0D1A3D"/>
          </a:solidFill>
          <a:ln w="12700">
            <a:solidFill>
              <a:srgbClr val="1158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Level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743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Home &amp; Garden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971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product categories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2D1A0D"/>
          </a:solidFill>
          <a:ln w="12700">
            <a:solidFill>
              <a:srgbClr val="9E6A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66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82880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Level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variance expected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30 customers by volume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0" y="12344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4709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= Median Absolute Percentage Error (lower is better)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Garden: 29% MAPE - Best Performing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2025 Walk-Forward Predictions (W27-W52) | Spike at W47 = seasonal holiday demand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by Category - Aggregation Reduces Volatility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3200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0372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Category-level shows most consistent performance. Best for inventory planning.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calculated over H2 2025 (26 weeks)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to Proactive Operations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3D1515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REACTIVE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Morning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ran out of cement last Friday"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Emergency order placed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shipping cost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frustrated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months of shampoo stock sitting"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Negotiate returns with supplier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Forced discounts to move inventory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Margin erosion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0D2818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PROACTIVE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Alert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"Cement demand +40% next 2 weeks"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scheduled in advance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shipping rates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satisfied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063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"Stock aligned to demand forecast"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Healthy inventory turnover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Capital not tied up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Margins protected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Co-Created with ACA, Expanding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27432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Upselling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INSIGHT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"Customer #46 forecast: ~2,500 units Hardware next week"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 contacts proactively. Order increases +28%.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234440"/>
            <a:ext cx="274320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6616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 Inbound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INSIGHT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"Beverages +35% demand W31-W34 (summer)"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200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supplier volume 6 weeks ahead.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234440"/>
            <a:ext cx="27432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4652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Segmentation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224028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INSIGHT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3796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customers (MAPE &lt;30%) vs volatile (&gt;60%)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3200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resources by predictability.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went from putting out fires every day to anticipating what's coming. Our customers notice, our team appreciates it, and our numbers reflect it."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ACA Operations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743200"/>
            <a:ext cx="18288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MAPE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0896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93776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Levels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6656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AI → Actions → Revenue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RedAI × ACA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4663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 Demand Planning - From Reactive to Proactive</dc:title>
  <dc:subject>PptxGenJS Presentation</dc:subject>
  <dc:creator>RedAI</dc:creator>
  <cp:lastModifiedBy>RedAI</cp:lastModifiedBy>
  <cp:revision>1</cp:revision>
  <dcterms:created xsi:type="dcterms:W3CDTF">2026-01-22T06:18:41Z</dcterms:created>
  <dcterms:modified xsi:type="dcterms:W3CDTF">2026-01-22T06:18:41Z</dcterms:modified>
</cp:coreProperties>
</file>